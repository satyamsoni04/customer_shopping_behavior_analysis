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3.xml" ContentType="application/vnd.openxmlformats-officedocument.presentationml.notes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notesSlides/notesSlide4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notesSlides/notesSlide5.xml" ContentType="application/vnd.openxmlformats-officedocument.presentationml.notesSlide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notesSlides/notesSlide6.xml" ContentType="application/vnd.openxmlformats-officedocument.presentationml.notesSlide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notesSlides/notesSlide7.xml" ContentType="application/vnd.openxmlformats-officedocument.presentationml.notesSlide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1A2E"/>
                </a:solidFill>
                <a:latin typeface="Arial"/>
              </a:rPr>
              <a:t>Subscription Split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Subscription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A0D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56A-422C-9C38-BF877204259F}"/>
              </c:ext>
            </c:extLst>
          </c:dPt>
          <c:dPt>
            <c:idx val="1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6A-422C-9C38-BF877204259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56A-422C-9C38-BF877204259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56A-422C-9C38-BF877204259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Non-Subscriber</c:v>
                </c:pt>
                <c:pt idx="1">
                  <c:v>Subscriber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56A-422C-9C38-BF87720425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1A2E"/>
                </a:solidFill>
                <a:latin typeface="Arial"/>
              </a:rPr>
              <a:t>Revenue by Age Group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A0D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3FB-4247-8498-C6F974DEB1D5}"/>
              </c:ext>
            </c:extLst>
          </c:dPt>
          <c:dPt>
            <c:idx val="1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3FB-4247-8498-C6F974DEB1D5}"/>
              </c:ext>
            </c:extLst>
          </c:dPt>
          <c:dPt>
            <c:idx val="2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3FB-4247-8498-C6F974DEB1D5}"/>
              </c:ext>
            </c:extLst>
          </c:dPt>
          <c:dPt>
            <c:idx val="3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83FB-4247-8498-C6F974DEB1D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3FB-4247-8498-C6F974DEB1D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3FB-4247-8498-C6F974DEB1D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3FB-4247-8498-C6F974DEB1D5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83FB-4247-8498-C6F974DEB1D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83FB-4247-8498-C6F974DEB1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1A2E"/>
                </a:solidFill>
                <a:latin typeface="Arial"/>
              </a:rPr>
              <a:t>Avg $ by Shipping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Express</c:v>
                </c:pt>
                <c:pt idx="1">
                  <c:v>2-Day</c:v>
                </c:pt>
                <c:pt idx="2">
                  <c:v>Free</c:v>
                </c:pt>
                <c:pt idx="3">
                  <c:v>Standard</c:v>
                </c:pt>
                <c:pt idx="4">
                  <c:v>Next Day</c:v>
                </c:pt>
                <c:pt idx="5">
                  <c:v>Store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60.48</c:v>
                </c:pt>
                <c:pt idx="1">
                  <c:v>59.51</c:v>
                </c:pt>
                <c:pt idx="2">
                  <c:v>59.12</c:v>
                </c:pt>
                <c:pt idx="3">
                  <c:v>58.46</c:v>
                </c:pt>
                <c:pt idx="4">
                  <c:v>60.12</c:v>
                </c:pt>
                <c:pt idx="5">
                  <c:v>58.8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427-4B1F-8AEB-463ECE856C86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1.5"/>
          <c:min val="57.5"/>
        </c:scaling>
        <c:delete val="0"/>
        <c:axPos val="l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1A2E"/>
                </a:solidFill>
                <a:latin typeface="Arial"/>
              </a:rPr>
              <a:t>Revenue by Category ($)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($)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A0D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385-4DB3-8F4A-5E69D2945119}"/>
              </c:ext>
            </c:extLst>
          </c:dPt>
          <c:dPt>
            <c:idx val="1"/>
            <c:invertIfNegative val="0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385-4DB3-8F4A-5E69D2945119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385-4DB3-8F4A-5E69D2945119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385-4DB3-8F4A-5E69D294511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104026</c:v>
                </c:pt>
                <c:pt idx="1">
                  <c:v>81505</c:v>
                </c:pt>
                <c:pt idx="2">
                  <c:v>31671</c:v>
                </c:pt>
                <c:pt idx="3">
                  <c:v>15879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1385-4DB3-8F4A-5E69D294511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1A2E"/>
                </a:solidFill>
                <a:latin typeface="Arial"/>
              </a:rPr>
              <a:t>Sales Count by Category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Sales Count</c:v>
                </c:pt>
              </c:strCache>
            </c:strRef>
          </c:tx>
          <c:spPr>
            <a:solidFill>
              <a:srgbClr val="0D6EF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D2D-4A3E-BC53-A362A3DF2A60}"/>
              </c:ext>
            </c:extLst>
          </c:dPt>
          <c:dPt>
            <c:idx val="1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D2D-4A3E-BC53-A362A3DF2A60}"/>
              </c:ext>
            </c:extLst>
          </c:dPt>
          <c:dPt>
            <c:idx val="2"/>
            <c:invertIfNegative val="0"/>
            <c:bubble3D val="0"/>
            <c:spPr>
              <a:solidFill>
                <a:srgbClr val="10B98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D2D-4A3E-BC53-A362A3DF2A60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D2D-4A3E-BC53-A362A3DF2A6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1737</c:v>
                </c:pt>
                <c:pt idx="1">
                  <c:v>1255</c:v>
                </c:pt>
                <c:pt idx="2">
                  <c:v>545</c:v>
                </c:pt>
                <c:pt idx="3">
                  <c:v>363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AD2D-4A3E-BC53-A362A3DF2A6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1A2E"/>
                </a:solidFill>
                <a:latin typeface="Arial"/>
              </a:rPr>
              <a:t>Revenue by Gender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spPr>
            <a:solidFill>
              <a:srgbClr val="D6338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407D-4B95-808D-826359D0A3FA}"/>
              </c:ext>
            </c:extLst>
          </c:dPt>
          <c:dPt>
            <c:idx val="1"/>
            <c:invertIfNegative val="0"/>
            <c:bubble3D val="0"/>
            <c:spPr>
              <a:solidFill>
                <a:srgbClr val="0D6E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07D-4B95-808D-826359D0A3FA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Female</c:v>
                </c:pt>
                <c:pt idx="1">
                  <c:v>Male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75191</c:v>
                </c:pt>
                <c:pt idx="1">
                  <c:v>157890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407D-4B95-808D-826359D0A3F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1A1A2E"/>
                </a:solidFill>
                <a:latin typeface="Arial"/>
              </a:rPr>
              <a:t>Total Revenue by Age Group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Revenue ($)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16D-4EA8-9CBF-7CD7D216FFCD}"/>
              </c:ext>
            </c:extLst>
          </c:dPt>
          <c:dPt>
            <c:idx val="1"/>
            <c:invertIfNegative val="0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16D-4EA8-9CBF-7CD7D216FFCD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16D-4EA8-9CBF-7CD7D216FFCD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16D-4EA8-9CBF-7CD7D216FFC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Middle-aged</c:v>
                </c:pt>
                <c:pt idx="2">
                  <c:v>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62143</c:v>
                </c:pt>
                <c:pt idx="1">
                  <c:v>59197</c:v>
                </c:pt>
                <c:pt idx="2">
                  <c:v>55978</c:v>
                </c:pt>
                <c:pt idx="3">
                  <c:v>55763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916D-4EA8-9CBF-7CD7D216FFC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1A2E"/>
                </a:solidFill>
                <a:latin typeface="Arial"/>
              </a:rPr>
              <a:t>Customers by Age Group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Customers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E4F8-435E-874A-13AFD5375694}"/>
              </c:ext>
            </c:extLst>
          </c:dPt>
          <c:dPt>
            <c:idx val="1"/>
            <c:invertIfNegative val="0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4F8-435E-874A-13AFD5375694}"/>
              </c:ext>
            </c:extLst>
          </c:dPt>
          <c:dPt>
            <c:idx val="2"/>
            <c:invertIfNegative val="0"/>
            <c:bubble3D val="0"/>
            <c:spPr>
              <a:solidFill>
                <a:srgbClr val="0D948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4F8-435E-874A-13AFD5375694}"/>
              </c:ext>
            </c:extLst>
          </c:dPt>
          <c:dPt>
            <c:idx val="3"/>
            <c:invertIfNegative val="0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E4F8-435E-874A-13AFD537569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Middle-aged</c:v>
                </c:pt>
                <c:pt idx="1">
                  <c:v>Adult</c:v>
                </c:pt>
                <c:pt idx="2">
                  <c:v>Young Adult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1070</c:v>
                </c:pt>
                <c:pt idx="1">
                  <c:v>918</c:v>
                </c:pt>
                <c:pt idx="2">
                  <c:v>875</c:v>
                </c:pt>
                <c:pt idx="3">
                  <c:v>812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E4F8-435E-874A-13AFD537569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1A1A2E"/>
                </a:solidFill>
                <a:latin typeface="Arial"/>
              </a:rPr>
              <a:t>Avg Spend by Age ($)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($)</c:v>
                </c:pt>
              </c:strCache>
            </c:strRef>
          </c:tx>
          <c:spPr>
            <a:ln w="38100" cap="flat">
              <a:solidFill>
                <a:srgbClr val="D6338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63384"/>
              </a:solidFill>
              <a:ln w="9525" cap="flat">
                <a:solidFill>
                  <a:srgbClr val="D63384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Young Adult</c:v>
                </c:pt>
                <c:pt idx="1">
                  <c:v>Adult</c:v>
                </c:pt>
                <c:pt idx="2">
                  <c:v>Middle-aged</c:v>
                </c:pt>
                <c:pt idx="3">
                  <c:v>Senior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71</c:v>
                </c:pt>
                <c:pt idx="1">
                  <c:v>60.98</c:v>
                </c:pt>
                <c:pt idx="2">
                  <c:v>55.33</c:v>
                </c:pt>
                <c:pt idx="3">
                  <c:v>68.69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B28-4410-9D9A-7A1783804C2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Top 5 Products by Avg Rating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Rating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F637-46BF-966F-536B6782B61E}"/>
              </c:ext>
            </c:extLst>
          </c:dPt>
          <c:dPt>
            <c:idx val="1"/>
            <c:invertIfNegative val="0"/>
            <c:bubble3D val="0"/>
            <c:spPr>
              <a:solidFill>
                <a:srgbClr val="8B24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F637-46BF-966F-536B6782B61E}"/>
              </c:ext>
            </c:extLst>
          </c:dPt>
          <c:dPt>
            <c:idx val="2"/>
            <c:invertIfNegative val="0"/>
            <c:bubble3D val="0"/>
            <c:spPr>
              <a:solidFill>
                <a:srgbClr val="A855F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F637-46BF-966F-536B6782B61E}"/>
              </c:ext>
            </c:extLst>
          </c:dPt>
          <c:dPt>
            <c:idx val="3"/>
            <c:invertIfNegative val="0"/>
            <c:bubble3D val="0"/>
            <c:spPr>
              <a:solidFill>
                <a:srgbClr val="C084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F637-46BF-966F-536B6782B61E}"/>
              </c:ext>
            </c:extLst>
          </c:dPt>
          <c:dPt>
            <c:idx val="4"/>
            <c:invertIfNegative val="0"/>
            <c:bubble3D val="0"/>
            <c:spPr>
              <a:solidFill>
                <a:srgbClr val="D8B4FE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F637-46BF-966F-536B6782B61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Gloves</c:v>
                </c:pt>
                <c:pt idx="1">
                  <c:v>Sandals</c:v>
                </c:pt>
                <c:pt idx="2">
                  <c:v>Boots</c:v>
                </c:pt>
                <c:pt idx="3">
                  <c:v>Hat</c:v>
                </c:pt>
                <c:pt idx="4">
                  <c:v>Skirt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3.86</c:v>
                </c:pt>
                <c:pt idx="1">
                  <c:v>3.84</c:v>
                </c:pt>
                <c:pt idx="2">
                  <c:v>3.82</c:v>
                </c:pt>
                <c:pt idx="3">
                  <c:v>3.8</c:v>
                </c:pt>
                <c:pt idx="4">
                  <c:v>3.78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F637-46BF-966F-536B6782B61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.92"/>
          <c:min val="3.7"/>
        </c:scaling>
        <c:delete val="0"/>
        <c:axPos val="b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1A2E"/>
                </a:solidFill>
                <a:latin typeface="Arial"/>
              </a:rPr>
              <a:t>Top 5 Discount-Dependent Products (%)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Rate (%)</c:v>
                </c:pt>
              </c:strCache>
            </c:strRef>
          </c:tx>
          <c:spPr>
            <a:solidFill>
              <a:srgbClr val="D63384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81A-4FB9-B1AD-9BD145D2D15D}"/>
              </c:ext>
            </c:extLst>
          </c:dPt>
          <c:dPt>
            <c:idx val="1"/>
            <c:invertIfNegative val="0"/>
            <c:bubble3D val="0"/>
            <c:spPr>
              <a:solidFill>
                <a:srgbClr val="E05A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81A-4FB9-B1AD-9BD145D2D15D}"/>
              </c:ext>
            </c:extLst>
          </c:dPt>
          <c:dPt>
            <c:idx val="2"/>
            <c:invertIfNegative val="0"/>
            <c:bubble3D val="0"/>
            <c:spPr>
              <a:solidFill>
                <a:srgbClr val="E87EB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81A-4FB9-B1AD-9BD145D2D15D}"/>
              </c:ext>
            </c:extLst>
          </c:dPt>
          <c:dPt>
            <c:idx val="3"/>
            <c:invertIfNegative val="0"/>
            <c:bubble3D val="0"/>
            <c:spPr>
              <a:solidFill>
                <a:srgbClr val="F0A2C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81A-4FB9-B1AD-9BD145D2D15D}"/>
              </c:ext>
            </c:extLst>
          </c:dPt>
          <c:dPt>
            <c:idx val="4"/>
            <c:invertIfNegative val="0"/>
            <c:bubble3D val="0"/>
            <c:spPr>
              <a:solidFill>
                <a:srgbClr val="F8C6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81A-4FB9-B1AD-9BD145D2D15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Hat</c:v>
                </c:pt>
                <c:pt idx="1">
                  <c:v>Sneakers</c:v>
                </c:pt>
                <c:pt idx="2">
                  <c:v>Coat</c:v>
                </c:pt>
                <c:pt idx="3">
                  <c:v>Sweater</c:v>
                </c:pt>
                <c:pt idx="4">
                  <c:v>Pants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50</c:v>
                </c:pt>
                <c:pt idx="1">
                  <c:v>49.66</c:v>
                </c:pt>
                <c:pt idx="2">
                  <c:v>49.07</c:v>
                </c:pt>
                <c:pt idx="3">
                  <c:v>48.17</c:v>
                </c:pt>
                <c:pt idx="4">
                  <c:v>47.37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81A-4FB9-B1AD-9BD145D2D15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2"/>
          <c:min val="45"/>
        </c:scaling>
        <c:delete val="0"/>
        <c:axPos val="b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Top 3 Products per Category — Order Volume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Rank 1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Accessories</c:v>
                </c:pt>
                <c:pt idx="1">
                  <c:v>Clothing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171</c:v>
                </c:pt>
                <c:pt idx="1">
                  <c:v>171</c:v>
                </c:pt>
                <c:pt idx="2">
                  <c:v>160</c:v>
                </c:pt>
                <c:pt idx="3">
                  <c:v>163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F81-49FA-9222-1FD18543E48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Rank 2</c:v>
                </c:pt>
              </c:strCache>
            </c:strRef>
          </c:tx>
          <c:spPr>
            <a:solidFill>
              <a:srgbClr val="D6338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Accessories</c:v>
                </c:pt>
                <c:pt idx="1">
                  <c:v>Clothing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161</c:v>
                </c:pt>
                <c:pt idx="1">
                  <c:v>171</c:v>
                </c:pt>
                <c:pt idx="2">
                  <c:v>150</c:v>
                </c:pt>
                <c:pt idx="3">
                  <c:v>161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F81-49FA-9222-1FD18543E48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Rank 3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Accessories</c:v>
                </c:pt>
                <c:pt idx="1">
                  <c:v>Clothing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161</c:v>
                </c:pt>
                <c:pt idx="1">
                  <c:v>169</c:v>
                </c:pt>
                <c:pt idx="2">
                  <c:v>145</c:v>
                </c:pt>
                <c:pt idx="3">
                  <c:v>155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9F81-49FA-9222-1FD18543E48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80"/>
          <c:min val="140"/>
        </c:scaling>
        <c:delete val="0"/>
        <c:axPos val="l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1A2E"/>
                </a:solidFill>
                <a:latin typeface="Arial"/>
              </a:rPr>
              <a:t>Subscription Status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A0D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A2B-460A-B907-80135B3C81B1}"/>
              </c:ext>
            </c:extLst>
          </c:dPt>
          <c:dPt>
            <c:idx val="1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A2B-460A-B907-80135B3C81B1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A2B-460A-B907-80135B3C81B1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A2B-460A-B907-80135B3C81B1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Non-Subscriber (73%)</c:v>
                </c:pt>
                <c:pt idx="1">
                  <c:v>Subscriber (27%)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2847</c:v>
                </c:pt>
                <c:pt idx="1">
                  <c:v>1053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A2B-460A-B907-80135B3C81B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1A2E"/>
                </a:solidFill>
                <a:latin typeface="Arial"/>
              </a:rPr>
              <a:t>Customer Loyalty Segments</a:t>
            </a:r>
          </a:p>
        </c:rich>
      </c:tx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Segment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A0D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09D-4DB1-8CF8-D0741CC52658}"/>
              </c:ext>
            </c:extLst>
          </c:dPt>
          <c:dPt>
            <c:idx val="1"/>
            <c:bubble3D val="0"/>
            <c:spPr>
              <a:solidFill>
                <a:srgbClr val="F59E0B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09D-4DB1-8CF8-D0741CC52658}"/>
              </c:ext>
            </c:extLst>
          </c:dPt>
          <c:dPt>
            <c:idx val="2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09D-4DB1-8CF8-D0741CC5265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9D-4DB1-8CF8-D0741CC5265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9D-4DB1-8CF8-D0741CC52658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9D-4DB1-8CF8-D0741CC5265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Loyal (80%)</c:v>
                </c:pt>
                <c:pt idx="1">
                  <c:v>Returning (18%)</c:v>
                </c:pt>
                <c:pt idx="2">
                  <c:v>New (2%)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3116</c:v>
                </c:pt>
                <c:pt idx="1">
                  <c:v>701</c:v>
                </c:pt>
                <c:pt idx="2">
                  <c:v>83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09D-4DB1-8CF8-D0741CC526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6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100" b="0" i="0" u="none" strike="noStrike">
                <a:solidFill>
                  <a:srgbClr val="1A1A2E"/>
                </a:solidFill>
                <a:latin typeface="Arial"/>
              </a:rPr>
              <a:t>Avg Spend Comparison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Spend ($)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74B-4746-B25C-E253F3586A87}"/>
              </c:ext>
            </c:extLst>
          </c:dPt>
          <c:dPt>
            <c:idx val="1"/>
            <c:invertIfNegative val="0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74B-4746-B25C-E253F3586A87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Subscriber</c:v>
                </c:pt>
                <c:pt idx="1">
                  <c:v>Non-Subscriber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59.49</c:v>
                </c:pt>
                <c:pt idx="1">
                  <c:v>59.87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174B-4746-B25C-E253F3586A8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1"/>
          <c:min val="58"/>
        </c:scaling>
        <c:delete val="0"/>
        <c:axPos val="l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Repeat Buyers (&gt;5 purchases) by Subscription Status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Repeat Buyers (&gt;5 purchases)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DAE7-4628-B2CB-4DBD8CCB8308}"/>
              </c:ext>
            </c:extLst>
          </c:dPt>
          <c:dPt>
            <c:idx val="1"/>
            <c:invertIfNegative val="0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DAE7-4628-B2CB-4DBD8CCB8308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Non-Subscriber</c:v>
                </c:pt>
                <c:pt idx="1">
                  <c:v>Subscriber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2518</c:v>
                </c:pt>
                <c:pt idx="1">
                  <c:v>958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DAE7-4628-B2CB-4DBD8CCB830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200" b="0" i="0" u="none" strike="noStrike">
                <a:solidFill>
                  <a:srgbClr val="1A1A2E"/>
                </a:solidFill>
                <a:latin typeface="Arial"/>
              </a:rPr>
              <a:t>Avg Purchase Amount by Shipping Type ($)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Purchase ($)</c:v>
                </c:pt>
              </c:strCache>
            </c:strRef>
          </c:tx>
          <c:spPr>
            <a:solidFill>
              <a:srgbClr val="6A0DAD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57C-4751-BC6D-2CCA7B75E9EB}"/>
              </c:ext>
            </c:extLst>
          </c:dPt>
          <c:dPt>
            <c:idx val="1"/>
            <c:invertIfNegative val="0"/>
            <c:bubble3D val="0"/>
            <c:spPr>
              <a:solidFill>
                <a:srgbClr val="7A1FC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57C-4751-BC6D-2CCA7B75E9EB}"/>
              </c:ext>
            </c:extLst>
          </c:dPt>
          <c:dPt>
            <c:idx val="2"/>
            <c:invertIfNegative val="0"/>
            <c:bubble3D val="0"/>
            <c:spPr>
              <a:solidFill>
                <a:srgbClr val="8B30D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57C-4751-BC6D-2CCA7B75E9EB}"/>
              </c:ext>
            </c:extLst>
          </c:dPt>
          <c:dPt>
            <c:idx val="3"/>
            <c:invertIfNegative val="0"/>
            <c:bubble3D val="0"/>
            <c:spPr>
              <a:solidFill>
                <a:srgbClr val="9B41E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57C-4751-BC6D-2CCA7B75E9EB}"/>
              </c:ext>
            </c:extLst>
          </c:dPt>
          <c:dPt>
            <c:idx val="4"/>
            <c:invertIfNegative val="0"/>
            <c:bubble3D val="0"/>
            <c:spPr>
              <a:solidFill>
                <a:srgbClr val="AB52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57C-4751-BC6D-2CCA7B75E9EB}"/>
              </c:ext>
            </c:extLst>
          </c:dPt>
          <c:dPt>
            <c:idx val="5"/>
            <c:invertIfNegative val="0"/>
            <c:bubble3D val="0"/>
            <c:spPr>
              <a:solidFill>
                <a:srgbClr val="BB63F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57C-4751-BC6D-2CCA7B75E9EB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A1A2E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Next Day Air</c:v>
                </c:pt>
                <c:pt idx="1">
                  <c:v>Express</c:v>
                </c:pt>
                <c:pt idx="2">
                  <c:v>2-Day Shipping</c:v>
                </c:pt>
                <c:pt idx="3">
                  <c:v>Free Shipping</c:v>
                </c:pt>
                <c:pt idx="4">
                  <c:v>Store Pickup</c:v>
                </c:pt>
                <c:pt idx="5">
                  <c:v>Standard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60.12</c:v>
                </c:pt>
                <c:pt idx="1">
                  <c:v>60.48</c:v>
                </c:pt>
                <c:pt idx="2">
                  <c:v>59.51</c:v>
                </c:pt>
                <c:pt idx="3">
                  <c:v>59.12</c:v>
                </c:pt>
                <c:pt idx="4">
                  <c:v>58.8</c:v>
                </c:pt>
                <c:pt idx="5">
                  <c:v>58.46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157C-4751-BC6D-2CCA7B75E9E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1.5"/>
          <c:min val="57.5"/>
        </c:scaling>
        <c:delete val="0"/>
        <c:axPos val="b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1A1A2E"/>
                </a:solidFill>
                <a:latin typeface="Arial"/>
              </a:rPr>
              <a:t>Discount User Breakdown</a:t>
            </a:r>
          </a:p>
        </c:rich>
      </c:tx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6A0DA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C3F-4FF6-A513-FA64700FCF35}"/>
              </c:ext>
            </c:extLst>
          </c:dPt>
          <c:dPt>
            <c:idx val="1"/>
            <c:bubble3D val="0"/>
            <c:spPr>
              <a:solidFill>
                <a:srgbClr val="D6338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C3F-4FF6-A513-FA64700FCF35}"/>
              </c:ext>
            </c:extLst>
          </c:dPt>
          <c:dPt>
            <c:idx val="2"/>
            <c:bubble3D val="0"/>
            <c:spPr>
              <a:solidFill>
                <a:srgbClr val="E0D0F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C3F-4FF6-A513-FA64700FCF35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C3F-4FF6-A513-FA64700FCF35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C3F-4FF6-A513-FA64700FCF35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C3F-4FF6-A513-FA64700FCF35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High-Spend + Discount (839)</c:v>
                </c:pt>
                <c:pt idx="1">
                  <c:v>Other Discount Users</c:v>
                </c:pt>
                <c:pt idx="2">
                  <c:v>No Discount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839</c:v>
                </c:pt>
                <c:pt idx="1">
                  <c:v>1384</c:v>
                </c:pt>
                <c:pt idx="2">
                  <c:v>1677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5C3F-4FF6-A513-FA64700FCF3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1A1A2E"/>
                </a:solidFill>
                <a:latin typeface="Arial"/>
              </a:rPr>
              <a:t>Discount Applied Rate by Category (%)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Discount Applied</c:v>
                </c:pt>
              </c:strCache>
            </c:strRef>
          </c:tx>
          <c:spPr>
            <a:solidFill>
              <a:srgbClr val="D63384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44.2</c:v>
                </c:pt>
                <c:pt idx="1">
                  <c:v>43.8</c:v>
                </c:pt>
                <c:pt idx="2">
                  <c:v>42.1</c:v>
                </c:pt>
                <c:pt idx="3">
                  <c:v>41.5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6-444C-9FFC-F00F86EC88E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No Discount</c:v>
                </c:pt>
              </c:strCache>
            </c:strRef>
          </c:tx>
          <c:spPr>
            <a:solidFill>
              <a:srgbClr val="E8D0F0"/>
            </a:solidFill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55.8</c:v>
                </c:pt>
                <c:pt idx="1">
                  <c:v>56.2</c:v>
                </c:pt>
                <c:pt idx="2">
                  <c:v>57.9</c:v>
                </c:pt>
                <c:pt idx="3">
                  <c:v>58.5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D6-444C-9FFC-F00F86EC88E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0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4A6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3724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3.xml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6.xml"/><Relationship Id="rId4" Type="http://schemas.openxmlformats.org/officeDocument/2006/relationships/chart" Target="../charts/char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9.xml"/><Relationship Id="rId4" Type="http://schemas.openxmlformats.org/officeDocument/2006/relationships/chart" Target="../charts/chart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2.xml"/><Relationship Id="rId4" Type="http://schemas.openxmlformats.org/officeDocument/2006/relationships/chart" Target="../charts/char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6.xml"/><Relationship Id="rId5" Type="http://schemas.openxmlformats.org/officeDocument/2006/relationships/chart" Target="../charts/chart15.xml"/><Relationship Id="rId4" Type="http://schemas.openxmlformats.org/officeDocument/2006/relationships/chart" Target="../charts/char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9.xml"/><Relationship Id="rId4" Type="http://schemas.openxmlformats.org/officeDocument/2006/relationships/chart" Target="../charts/chart1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11480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0"/>
            <a:ext cx="109728" cy="5143500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914400"/>
            <a:ext cx="7772400" cy="1417320"/>
          </a:xfrm>
          <a:prstGeom prst="rect">
            <a:avLst/>
          </a:prstGeom>
          <a:solidFill>
            <a:srgbClr val="6A0DAD">
              <a:alpha val="80000"/>
            </a:srgbClr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9601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Shopping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822960" y="1572768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9A8E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Behavior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487168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Intelligence Report  ·  Python  ·  SQL  ·  Power BI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301752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3D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3,900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788920" y="301752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3D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8892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$59.76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78892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54880" y="301752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3D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3.75 ★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75488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Rating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0840" y="3017520"/>
            <a:ext cx="1828800" cy="777240"/>
          </a:xfrm>
          <a:prstGeom prst="roundRect">
            <a:avLst>
              <a:gd name="adj" fmla="val 14118"/>
            </a:avLst>
          </a:prstGeom>
          <a:solidFill>
            <a:srgbClr val="3D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720840" y="3063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720840" y="34015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21208" y="4754880"/>
            <a:ext cx="8622792" cy="388620"/>
          </a:xfrm>
          <a:prstGeom prst="rect">
            <a:avLst/>
          </a:prstGeom>
          <a:solidFill>
            <a:srgbClr val="14092A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77316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analysis of 3,900 customer transactions across Clothing, Accessories, Footwear &amp; Outerwear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Executive Summary — Key Metrics at a Glance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" y="4892040"/>
            <a:ext cx="8979408" cy="25146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Overview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256032" y="96012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56032" y="960120"/>
            <a:ext cx="2011680" cy="54864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A0D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3,900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56032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Customers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96012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377440" y="960120"/>
            <a:ext cx="2011680" cy="54864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0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D633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$59.76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377440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Purchase Amount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498848" y="96012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98848" y="960120"/>
            <a:ext cx="201168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8" name="Text 16"/>
          <p:cNvSpPr/>
          <p:nvPr/>
        </p:nvSpPr>
        <p:spPr>
          <a:xfrm>
            <a:off x="4498848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3.75 ★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4498848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Review Rating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620256" y="1001268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620256" y="960120"/>
            <a:ext cx="201168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2" name="Text 20"/>
          <p:cNvSpPr/>
          <p:nvPr/>
        </p:nvSpPr>
        <p:spPr>
          <a:xfrm>
            <a:off x="6620256" y="1051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73%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620256" y="152704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Non-Subscriber 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56032" y="2057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56032" y="2057400"/>
            <a:ext cx="201168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26" name="Text 24"/>
          <p:cNvSpPr/>
          <p:nvPr/>
        </p:nvSpPr>
        <p:spPr>
          <a:xfrm>
            <a:off x="256032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3,116</a:t>
            </a:r>
            <a:endParaRPr lang="en-US" sz="2600" dirty="0"/>
          </a:p>
        </p:txBody>
      </p:sp>
      <p:sp>
        <p:nvSpPr>
          <p:cNvPr id="27" name="Text 25"/>
          <p:cNvSpPr/>
          <p:nvPr/>
        </p:nvSpPr>
        <p:spPr>
          <a:xfrm>
            <a:off x="256032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377440" y="2057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377440" y="2057400"/>
            <a:ext cx="2011680" cy="54864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0" name="Text 28"/>
          <p:cNvSpPr/>
          <p:nvPr/>
        </p:nvSpPr>
        <p:spPr>
          <a:xfrm>
            <a:off x="2377440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$157.9K</a:t>
            </a:r>
            <a:endParaRPr lang="en-US" sz="2600" dirty="0"/>
          </a:p>
        </p:txBody>
      </p:sp>
      <p:sp>
        <p:nvSpPr>
          <p:cNvPr id="31" name="Text 29"/>
          <p:cNvSpPr/>
          <p:nvPr/>
        </p:nvSpPr>
        <p:spPr>
          <a:xfrm>
            <a:off x="2377440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Male Revenue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498848" y="2057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498848" y="2057400"/>
            <a:ext cx="2011680" cy="54864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4" name="Text 32"/>
          <p:cNvSpPr/>
          <p:nvPr/>
        </p:nvSpPr>
        <p:spPr>
          <a:xfrm>
            <a:off x="4498848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839</a:t>
            </a:r>
            <a:endParaRPr lang="en-US" sz="2600" dirty="0"/>
          </a:p>
        </p:txBody>
      </p:sp>
      <p:sp>
        <p:nvSpPr>
          <p:cNvPr id="35" name="Text 33"/>
          <p:cNvSpPr/>
          <p:nvPr/>
        </p:nvSpPr>
        <p:spPr>
          <a:xfrm>
            <a:off x="4498848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High-Spend Disc. Users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620256" y="2057400"/>
            <a:ext cx="2011680" cy="914400"/>
          </a:xfrm>
          <a:prstGeom prst="rect">
            <a:avLst/>
          </a:prstGeom>
          <a:solidFill>
            <a:srgbClr val="FFFFFF"/>
          </a:solidFill>
          <a:ln/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620256" y="2057400"/>
            <a:ext cx="2011680" cy="54864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8" name="Text 36"/>
          <p:cNvSpPr/>
          <p:nvPr/>
        </p:nvSpPr>
        <p:spPr>
          <a:xfrm>
            <a:off x="6620256" y="214884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6A0D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50%</a:t>
            </a:r>
            <a:endParaRPr lang="en-US" sz="2600" dirty="0"/>
          </a:p>
        </p:txBody>
      </p:sp>
      <p:sp>
        <p:nvSpPr>
          <p:cNvPr id="39" name="Text 37"/>
          <p:cNvSpPr/>
          <p:nvPr/>
        </p:nvSpPr>
        <p:spPr>
          <a:xfrm>
            <a:off x="6620256" y="26243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A4A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Discount Rate (Hat)</a:t>
            </a:r>
            <a:endParaRPr lang="en-US" sz="1000" dirty="0"/>
          </a:p>
        </p:txBody>
      </p:sp>
      <p:graphicFrame>
        <p:nvGraphicFramePr>
          <p:cNvPr id="40" name="Chart 0"/>
          <p:cNvGraphicFramePr/>
          <p:nvPr/>
        </p:nvGraphicFramePr>
        <p:xfrm>
          <a:off x="256032" y="3154680"/>
          <a:ext cx="27432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1" name="Chart 1"/>
          <p:cNvGraphicFramePr/>
          <p:nvPr/>
        </p:nvGraphicFramePr>
        <p:xfrm>
          <a:off x="3200400" y="3154680"/>
          <a:ext cx="2743200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42" name="Chart 2"/>
          <p:cNvGraphicFramePr/>
          <p:nvPr/>
        </p:nvGraphicFramePr>
        <p:xfrm>
          <a:off x="6144768" y="3154680"/>
          <a:ext cx="2487168" cy="1554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&amp; Sales — Category and Gender Breakdown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" y="4892040"/>
            <a:ext cx="8979408" cy="25146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Revenue Analysis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96012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572000" y="960120"/>
          <a:ext cx="4059936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2"/>
          <p:cNvGraphicFramePr/>
          <p:nvPr/>
        </p:nvGraphicFramePr>
        <p:xfrm>
          <a:off x="256032" y="3657600"/>
          <a:ext cx="4114800" cy="11155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6"/>
          <p:cNvSpPr/>
          <p:nvPr/>
        </p:nvSpPr>
        <p:spPr>
          <a:xfrm>
            <a:off x="4572000" y="3657600"/>
            <a:ext cx="4059936" cy="1115568"/>
          </a:xfrm>
          <a:prstGeom prst="rect">
            <a:avLst/>
          </a:prstGeom>
          <a:solidFill>
            <a:srgbClr val="3D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4572000" y="3657600"/>
            <a:ext cx="64008" cy="1115568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13" name="Text 8"/>
          <p:cNvSpPr/>
          <p:nvPr/>
        </p:nvSpPr>
        <p:spPr>
          <a:xfrm>
            <a:off x="4709160" y="3703320"/>
            <a:ext cx="384048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E8"/>
                </a:solidFill>
              </a:rPr>
              <a:t>Key Insight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Clothing dominates revenue at $104K — 1.2x Accessories.
</a:t>
            </a:r>
            <a:endParaRPr lang="en-US" sz="1100" dirty="0"/>
          </a:p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</a:rPr>
              <a:t>Male customers generate 67.7% of total revenue vs Female 32.3%.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Revenue by Age Group — Who Spends the Most?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" y="4892040"/>
            <a:ext cx="8979408" cy="25146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Age Group Analysis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1005840"/>
          <a:ext cx="502920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5486400" y="1005840"/>
          <a:ext cx="3200400" cy="2011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2"/>
          <p:cNvGraphicFramePr/>
          <p:nvPr/>
        </p:nvGraphicFramePr>
        <p:xfrm>
          <a:off x="5486400" y="3108960"/>
          <a:ext cx="3200400" cy="1417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1" name="Shape 6"/>
          <p:cNvSpPr/>
          <p:nvPr/>
        </p:nvSpPr>
        <p:spPr>
          <a:xfrm>
            <a:off x="256032" y="4315968"/>
            <a:ext cx="5029200" cy="548640"/>
          </a:xfrm>
          <a:prstGeom prst="rect">
            <a:avLst/>
          </a:prstGeom>
          <a:solidFill>
            <a:srgbClr val="6A0DAD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329184" y="4334256"/>
            <a:ext cx="48463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drive highest total revenue ($62.1K) while Middle-aged has the largest customer count (1,070). Senior customers also spend above average at $68.69 avg.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Product Performance — Ratings, Popularity &amp; Discount Dependency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" y="4892040"/>
            <a:ext cx="8979408" cy="25146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Product Analysis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960120"/>
          <a:ext cx="4114800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4572000" y="960120"/>
          <a:ext cx="4059936" cy="21488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2"/>
          <p:cNvGraphicFramePr/>
          <p:nvPr/>
        </p:nvGraphicFramePr>
        <p:xfrm>
          <a:off x="256032" y="3200400"/>
          <a:ext cx="8375904" cy="1463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Customer Segmentation — Loyalty &amp; Subscription Behaviour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" y="4892040"/>
            <a:ext cx="8979408" cy="25146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Segmentation Analysis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1005840"/>
          <a:ext cx="310896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3474720" y="1005840"/>
          <a:ext cx="292608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2"/>
          <p:cNvGraphicFramePr/>
          <p:nvPr/>
        </p:nvGraphicFramePr>
        <p:xfrm>
          <a:off x="6537960" y="1005840"/>
          <a:ext cx="21488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1" name="Chart 3"/>
          <p:cNvGraphicFramePr/>
          <p:nvPr/>
        </p:nvGraphicFramePr>
        <p:xfrm>
          <a:off x="256032" y="3657600"/>
          <a:ext cx="8375904" cy="1143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"/>
            <a:ext cx="8979408" cy="749808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5" name="Text 3"/>
          <p:cNvSpPr/>
          <p:nvPr/>
        </p:nvSpPr>
        <p:spPr>
          <a:xfrm>
            <a:off x="347472" y="91440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Shipping Preferences &amp; Discount Impact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64592" y="4892040"/>
            <a:ext cx="8979408" cy="251460"/>
          </a:xfrm>
          <a:prstGeom prst="rect">
            <a:avLst/>
          </a:prstGeom>
          <a:solidFill>
            <a:srgbClr val="1A0A2E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4901184"/>
            <a:ext cx="8595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Discount &amp; Shipping Analysis</a:t>
            </a:r>
            <a:endParaRPr lang="en-US" sz="8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256032" y="1005840"/>
          <a:ext cx="5029200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1"/>
          <p:cNvGraphicFramePr/>
          <p:nvPr/>
        </p:nvGraphicFramePr>
        <p:xfrm>
          <a:off x="5486400" y="1005840"/>
          <a:ext cx="3145536" cy="2377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0" name="Chart 2"/>
          <p:cNvGraphicFramePr/>
          <p:nvPr/>
        </p:nvGraphicFramePr>
        <p:xfrm>
          <a:off x="256032" y="3474720"/>
          <a:ext cx="8375904" cy="1371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BI Interactive Dashboard</a:t>
            </a:r>
            <a:endParaRPr lang="en-US" sz="2000" dirty="0"/>
          </a:p>
        </p:txBody>
      </p:sp>
      <p:pic>
        <p:nvPicPr>
          <p:cNvPr id="4" name="Image 0" descr="/mnt/user-data/uploads/Screenshot_2026-03-27_185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777240"/>
            <a:ext cx="8686800" cy="40690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14092A"/>
          </a:solidFill>
          <a:ln/>
        </p:spPr>
      </p:sp>
      <p:sp>
        <p:nvSpPr>
          <p:cNvPr id="6" name="Text 3"/>
          <p:cNvSpPr/>
          <p:nvPr/>
        </p:nvSpPr>
        <p:spPr>
          <a:xfrm>
            <a:off x="274320" y="4901184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features: Subscription Status · Gender · Category · Shipping Type slicers for dynamic filtering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91440"/>
            <a:ext cx="8595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Recommendations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01168" y="914400"/>
            <a:ext cx="2834640" cy="1828800"/>
          </a:xfrm>
          <a:prstGeom prst="rect">
            <a:avLst/>
          </a:prstGeom>
          <a:solidFill>
            <a:srgbClr val="2412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01168" y="914400"/>
            <a:ext cx="2834640" cy="64008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7" name="Shape 5"/>
          <p:cNvSpPr/>
          <p:nvPr/>
        </p:nvSpPr>
        <p:spPr>
          <a:xfrm>
            <a:off x="201168" y="914400"/>
            <a:ext cx="64008" cy="18288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8" name="Text 6"/>
          <p:cNvSpPr/>
          <p:nvPr/>
        </p:nvSpPr>
        <p:spPr>
          <a:xfrm>
            <a:off x="310896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95528" y="10241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A0DA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Boost Subscriptions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10896" y="146304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27% subscribe. Launch exclusive perks — early access, free shipping, loyalty points — to accelerate conversion.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191256" y="914400"/>
            <a:ext cx="2834640" cy="1828800"/>
          </a:xfrm>
          <a:prstGeom prst="rect">
            <a:avLst/>
          </a:prstGeom>
          <a:solidFill>
            <a:srgbClr val="2412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191256" y="914400"/>
            <a:ext cx="2834640" cy="64008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13" name="Shape 11"/>
          <p:cNvSpPr/>
          <p:nvPr/>
        </p:nvSpPr>
        <p:spPr>
          <a:xfrm>
            <a:off x="3191256" y="914400"/>
            <a:ext cx="64008" cy="1828800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14" name="Text 12"/>
          <p:cNvSpPr/>
          <p:nvPr/>
        </p:nvSpPr>
        <p:spPr>
          <a:xfrm>
            <a:off x="3300984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785616" y="10241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338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Loyalty Programme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3300984" y="146304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are Loyal customers. Introduce tiered rewards to retain them and move 701 Returning users to Loyal status.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181344" y="914400"/>
            <a:ext cx="2834640" cy="1828800"/>
          </a:xfrm>
          <a:prstGeom prst="rect">
            <a:avLst/>
          </a:prstGeom>
          <a:solidFill>
            <a:srgbClr val="2412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181344" y="914400"/>
            <a:ext cx="2834640" cy="6400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1344" y="914400"/>
            <a:ext cx="64008" cy="1828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291072" y="102412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💸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775704" y="102412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Revise Discount Policy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91072" y="146304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Hat, Sneakers &amp; Coat near 50% discount dependency. Shift to value-added bundles instead of blanket price cuts.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01168" y="2926080"/>
            <a:ext cx="2834640" cy="1828800"/>
          </a:xfrm>
          <a:prstGeom prst="rect">
            <a:avLst/>
          </a:prstGeom>
          <a:solidFill>
            <a:srgbClr val="2412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01168" y="2926080"/>
            <a:ext cx="2834640" cy="6400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Shape 23"/>
          <p:cNvSpPr/>
          <p:nvPr/>
        </p:nvSpPr>
        <p:spPr>
          <a:xfrm>
            <a:off x="201168" y="2926080"/>
            <a:ext cx="64008" cy="1828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310896" y="3035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⭐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95528" y="3035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Amplify Top-Rated Products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10896" y="347472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Gloves (3.86), Sandals (3.84) &amp; Boots (3.82) are top-rated. Feature in homepage banners and email campaigns.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191256" y="2926080"/>
            <a:ext cx="2834640" cy="1828800"/>
          </a:xfrm>
          <a:prstGeom prst="rect">
            <a:avLst/>
          </a:prstGeom>
          <a:solidFill>
            <a:srgbClr val="2412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191256" y="2926080"/>
            <a:ext cx="2834640" cy="64008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1" name="Shape 29"/>
          <p:cNvSpPr/>
          <p:nvPr/>
        </p:nvSpPr>
        <p:spPr>
          <a:xfrm>
            <a:off x="3191256" y="2926080"/>
            <a:ext cx="64008" cy="1828800"/>
          </a:xfrm>
          <a:prstGeom prst="rect">
            <a:avLst/>
          </a:prstGeom>
          <a:solidFill>
            <a:srgbClr val="0D6EFD"/>
          </a:solidFill>
          <a:ln/>
        </p:spPr>
      </p:sp>
      <p:sp>
        <p:nvSpPr>
          <p:cNvPr id="32" name="Text 30"/>
          <p:cNvSpPr/>
          <p:nvPr/>
        </p:nvSpPr>
        <p:spPr>
          <a:xfrm>
            <a:off x="3300984" y="3035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📦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3785616" y="3035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6EF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Shipping Upsell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300984" y="347472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shipping correlates with higher baskets ($60.48). Nudge carts above $60 toward Express at checkout.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81344" y="2926080"/>
            <a:ext cx="2834640" cy="1828800"/>
          </a:xfrm>
          <a:prstGeom prst="rect">
            <a:avLst/>
          </a:prstGeom>
          <a:solidFill>
            <a:srgbClr val="24124A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181344" y="2926080"/>
            <a:ext cx="2834640" cy="64008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7" name="Shape 35"/>
          <p:cNvSpPr/>
          <p:nvPr/>
        </p:nvSpPr>
        <p:spPr>
          <a:xfrm>
            <a:off x="6181344" y="2926080"/>
            <a:ext cx="64008" cy="18288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8" name="Text 36"/>
          <p:cNvSpPr/>
          <p:nvPr/>
        </p:nvSpPr>
        <p:spPr>
          <a:xfrm>
            <a:off x="6291072" y="3035808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👥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6775704" y="3035808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Targeted Age Marketing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91072" y="3474720"/>
            <a:ext cx="26517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00" dirty="0">
                <a:solidFill>
                  <a:srgbClr val="C9C9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Adults drive most revenue ($62.1K). Tailor creative by segment — trend content for young, value for adults.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0A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02920" cy="5143500"/>
          </a:xfrm>
          <a:prstGeom prst="rect">
            <a:avLst/>
          </a:prstGeom>
          <a:solidFill>
            <a:srgbClr val="6A0DA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0"/>
            <a:ext cx="109728" cy="5143500"/>
          </a:xfrm>
          <a:prstGeom prst="rect">
            <a:avLst/>
          </a:prstGeom>
          <a:solidFill>
            <a:srgbClr val="D63384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00584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914400" y="21945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Shopping Behavior Analysis  |  Data Intelligence Report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14400" y="28346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D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2880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3,900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91440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880360" y="28346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D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2880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$233K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88036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846320" y="28346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D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0" y="2880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 Customers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12280" y="2834640"/>
            <a:ext cx="1828800" cy="914400"/>
          </a:xfrm>
          <a:prstGeom prst="roundRect">
            <a:avLst>
              <a:gd name="adj" fmla="val 10000"/>
            </a:avLst>
          </a:prstGeom>
          <a:solidFill>
            <a:srgbClr val="3D1078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12280" y="2880360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812280" y="334670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C9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12648" y="4754880"/>
            <a:ext cx="8531352" cy="388620"/>
          </a:xfrm>
          <a:prstGeom prst="rect">
            <a:avLst/>
          </a:prstGeom>
          <a:solidFill>
            <a:srgbClr val="14092A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999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using Python  ·  PostgreSQL  ·  Power BI  |  Data: 3,900 customer transactions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546</Words>
  <Application>Microsoft Office PowerPoint</Application>
  <PresentationFormat>On-screen Show (16:9)</PresentationFormat>
  <Paragraphs>119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Customer Shopping Behavior Analysis</dc:title>
  <dc:subject>PptxGenJS Presentation</dc:subject>
  <dc:creator>PptxGenJS</dc:creator>
  <cp:lastModifiedBy>Satyam Soni</cp:lastModifiedBy>
  <cp:revision>3</cp:revision>
  <dcterms:created xsi:type="dcterms:W3CDTF">2026-03-28T04:49:11Z</dcterms:created>
  <dcterms:modified xsi:type="dcterms:W3CDTF">2026-03-28T08:57:42Z</dcterms:modified>
</cp:coreProperties>
</file>